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74320" cy="8229600"/>
          </a:xfrm>
          <a:prstGeom prst="rect">
            <a:avLst/>
          </a:prstGeom>
          <a:solidFill>
            <a:srgbClr val="1E3A8A"/>
          </a:solidFill>
          <a:ln/>
        </p:spPr>
      </p:sp>
      <p:pic>
        <p:nvPicPr>
          <p:cNvPr id="4" name="Image 0" descr="C:\Users\hiond\workshop\mas-designer\output\dealer-docs-automator\step3\images\slide-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371600"/>
            <a:ext cx="5486400" cy="5029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대리점 개통 지능 시스템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Real-time Risk Triage Agent for Telecom Dealers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6858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2026-04-21 · 보고 대상: CIO 및 경영진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→ How → What 순서로 의사결정까지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6217920" cy="118872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031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920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영업사원이 원하는 것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0" y="1371600"/>
            <a:ext cx="6217920" cy="118872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96112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0" y="1920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본사가 원하는 것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2834640"/>
            <a:ext cx="6217920" cy="118872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1031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고통 · 근본 원인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0" y="2834640"/>
            <a:ext cx="6217920" cy="118872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3063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9611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0" y="3383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전략 축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4297680"/>
            <a:ext cx="6217920" cy="118872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526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10312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03120" y="4846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RTA (확장형)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772400" y="4297680"/>
            <a:ext cx="6217920" cy="118872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4526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961120" y="4480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961120" y="4846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· 그래프 · Tool/MCP · RAG · 멀티모달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4400" y="5760720"/>
            <a:ext cx="6217920" cy="118872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5989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10312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로드맵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03120" y="6309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18개월 6단계 + 기대 효과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772400" y="5760720"/>
            <a:ext cx="6217920" cy="1188720"/>
          </a:xfrm>
          <a:prstGeom prst="roundRect">
            <a:avLst>
              <a:gd name="adj" fmla="val 7692"/>
            </a:avLst>
          </a:prstGeom>
          <a:solidFill>
            <a:srgbClr val="F3F4F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0" y="5989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896112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961120" y="6309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· 의사결정 요청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2/17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WHY — 영업사원이 원하는 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Great 2 WHY · 1/2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2743200"/>
          </a:xfrm>
          <a:prstGeom prst="roundRect">
            <a:avLst>
              <a:gd name="adj" fmla="val 5000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 옆에서 AI가 2초 만에 위험을 읽어주니,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의심 고객 앞에서 당황하거나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본사에 전화 돌리지 않아도 된다."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고통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서류 작성 30분 + 반려 재처리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본사 영업지원 콜 5~15분 대기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사기 의심 고객 판단 스트레스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도입 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47548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12분 처리 (-60%)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규정 RAG로 95% 자체 답변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근거 있는 위험 판정으로 자신감 +</a:t>
            </a:r>
            <a:endParaRPr lang="en-US" sz="1300" dirty="0"/>
          </a:p>
        </p:txBody>
      </p:sp>
      <p:pic>
        <p:nvPicPr>
          <p:cNvPr id="11" name="Image 0" descr="C:\Users\hiond\workshop\mas-designer\output\dealer-docs-automator\step3\images\slide-03-customer-w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371600"/>
            <a:ext cx="5486400" cy="5029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3/17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WHY — 본사·CIO가 원하는 것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Great 2 WHY · 2/2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772400" cy="3017520"/>
          </a:xfrm>
          <a:prstGeom prst="roundRect">
            <a:avLst>
              <a:gd name="adj" fmla="val 45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54480"/>
            <a:ext cx="74066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"개통 순간의 사기·규정 위반을 실시간 차단해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100~300억 원의 손실과 브랜드·법적 리스크를 동시에 막고,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리스크 방어 아키텍처를 모든 대리점 업무의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지능 표준으로 확장한다."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75488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손실 예방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100~300억 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08960" y="475488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 준수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5349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과태료·법적 방어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60720" y="475488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3F4F6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4892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지능 표준화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52160" y="53492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전사 업무 확장</a:t>
            </a:r>
            <a:endParaRPr lang="en-US" sz="1300" dirty="0"/>
          </a:p>
        </p:txBody>
      </p:sp>
      <p:pic>
        <p:nvPicPr>
          <p:cNvPr id="16" name="Image 0" descr="C:\Users\hiond\workshop\mas-designer\output\dealer-docs-automator\step3\images\slide-04-enterprise-w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371600"/>
            <a:ext cx="5486400" cy="5029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4/17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현상 — 개통 현장의 3대 고통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업계 통상치 기준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480560" cy="502920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4480560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반려율 15~25%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BSS 재처리 연 150~300억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1828800"/>
            <a:ext cx="4480560" cy="502920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20640" y="1828800"/>
            <a:ext cx="448056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사기 개통 0.3~1.2%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640" y="274320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5303520" y="47548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건당 100~300만 손실·법적 리스크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784080" y="1828800"/>
            <a:ext cx="4480560" cy="502920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1828800"/>
            <a:ext cx="4480560" cy="5486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시간 25~40분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784080" y="274320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30min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9966960" y="47548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영업사원 소진·경쟁 열위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5/17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근본 원인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5WHY 심화 · 세 현상 모두 '데이터·지능이 있으나 현장 순간에 도달 안 함'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3716000" cy="3657600"/>
        </p:xfrm>
        <a:graphic>
          <a:graphicData uri="http://schemas.openxmlformats.org/drawingml/2006/table">
            <a:tbl>
              <a:tblPr/>
              <a:tblGrid>
                <a:gridCol w="3657600"/>
                <a:gridCol w="10058400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현상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근본 원인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반려율 20%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규정이 현장 작성 시점에 실시간·맥락적으로 제공 안 됨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사기 개통 0.8% (킹핀)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위험 신호가 개통 순간에 현장에 도달하지 않음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 시간 30분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자동화 가능 작업이 오케스트레이션 부재로 순차 수작업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486400"/>
            <a:ext cx="1371600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669280"/>
            <a:ext cx="1335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킹핀 문제(사기 실시간 차단) 해결이 나머지 두 문제의 트로이 목마 역할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6217920"/>
            <a:ext cx="1335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RTA 아키텍처에 규정 RAG·서류 자동화를 내부 에이전트로 편입하여 단계적으로 확장 가능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6/17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방향성 — 3대 전략 축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목표 아닌 한 아키텍처의 세 얼굴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480560" cy="4572000"/>
          </a:xfrm>
          <a:prstGeom prst="roundRect">
            <a:avLst>
              <a:gd name="adj" fmla="val 3061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63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Real-time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Risk Triage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에이전트 · 2초 위험 스코어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41148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7033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OCR · VLM · 규정 RAG · ML 4종 동시 실행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Green / Yellow / Red 3단계 판정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2s Hard timeout, 부분 결과 진행 허용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52578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5257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반려율 20% → 5% · 사기 0.8% → 0.1%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371600"/>
            <a:ext cx="4480560" cy="4572000"/>
          </a:xfrm>
          <a:prstGeom prst="roundRect">
            <a:avLst>
              <a:gd name="adj" fmla="val 306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463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303520" y="21945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Explainable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Compliance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30352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조항 인용 · 근거 · 감사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3611880"/>
            <a:ext cx="41148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37033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규정 조항 ID + 원문 인용 (환각 방지)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ReAct + 자가 검증 프롬프트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Append-only 감사 로그 7년 보관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52578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5257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과태료 · 규제 리스크 사전 방어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84080" y="1371600"/>
            <a:ext cx="4480560" cy="4572000"/>
          </a:xfrm>
          <a:prstGeom prst="roundRect">
            <a:avLst>
              <a:gd name="adj" fmla="val 306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14630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9966960" y="21945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Progressive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Intelligence Standard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96696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사기 → 규정 → 서류 → CX 확장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966960" y="3611880"/>
            <a:ext cx="4114800" cy="18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966960" y="370332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RTA = 대리점 지능 허브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동일 아키텍처를 리텐션·CS로 재사용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FP·반려 사례 축적 → 데이터 자산화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966960" y="52578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966960" y="52578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18개월 내 전사 지능 표준화</a:t>
            </a:r>
            <a:endParaRPr lang="en-US" sz="1200" dirty="0"/>
          </a:p>
        </p:txBody>
      </p:sp>
      <p:pic>
        <p:nvPicPr>
          <p:cNvPr id="29" name="Image 0" descr="C:\Users\hiond\workshop\mas-designer\output\dealer-docs-automator\step3\images\slide-07-direction.back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6172200"/>
            <a:ext cx="11887200" cy="15087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7/17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솔루션 — RTA (확장형)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Real-time Triage Agent for Telecom Dealers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00" cy="2560320"/>
          </a:xfrm>
          <a:prstGeom prst="roundRect">
            <a:avLst>
              <a:gd name="adj" fmla="val 5357"/>
            </a:avLst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1335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대리점 개통 실시간 멀티에이전트 리스크 트리아지 시스템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1335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"통신 대리점 개통 순간, 사기·명의도용·규정 위반을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병렬 에이전트가 2초 내 판정하고, 검증·서류 생성·감사까지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LangGraph 오케스트레이션으로 완결하는 현장 지능 시스템"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1371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 에이전트 7종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8463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Orchestrator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48463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 Verifier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MEDIUM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0560" y="48463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26280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MEDIUM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48463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Fraud Scorer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HIGH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8463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964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 Generator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49640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515600" y="48463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6132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Audit Logger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61320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2527280" y="48463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573000" y="49377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 Copilot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573000" y="5669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MEDIUM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66751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선정 근거 5항목: 킹핀 직결 · B/F 최상 · No Brainers 사분면 · AI 실현 16/20 · 방향성 3축 정합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8/17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 아키텍처 ① — 7 전문 에이전트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Supervisor + Parallel Specialists + Human-in-the-Loop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3716000" cy="5486400"/>
        </p:xfrm>
        <a:graphic>
          <a:graphicData uri="http://schemas.openxmlformats.org/drawingml/2006/table">
            <a:tbl>
              <a:tblPr/>
              <a:tblGrid>
                <a:gridCol w="731520"/>
                <a:gridCol w="3840480"/>
                <a:gridCol w="1828800"/>
                <a:gridCol w="73152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#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에이전트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Tier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역할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Orchestrator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State 관리·병렬 호출·HITL 분기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ID Verifier (IDV+)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MEDIUM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OCR + VLM 위변조 + 얼굴 + 라이브니스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Compliance RegGuard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MEDIUM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규정 RAG + ReAct + 조항 인용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Fraud Scorer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HIGH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ML + LLM 앙상블 사기 스코어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Doc Generator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LOW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PDF 3종 자동 생성 + 전자서명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Audit Logger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LOW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Append-only 감사 로그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Dealer Copilot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MEDIUM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영업사원 질의응답 (선택)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7132320"/>
            <a:ext cx="1371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간 직접 호출 금지 — 조정은 Orchestrator 전담 (DMAP 표준)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9/17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 아키텍처 ② — LangGraph 병렬 오케스트레이션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2초 병렬 · HITL · Local Queue 업무 연속성</a:t>
            </a:r>
            <a:endParaRPr lang="en-US" sz="1300" dirty="0"/>
          </a:p>
        </p:txBody>
      </p:sp>
      <p:pic>
        <p:nvPicPr>
          <p:cNvPr id="5" name="Image 0" descr="C:\Users\hiond\workshop\mas-designer\output\dealer-docs-automator\step3\images\slide-10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82296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44000" y="146304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28116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INTAKE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281160" y="1874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수신·PII 마스킹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0" y="246888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28116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IDV ∥ RG ∥ FS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281160" y="288036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2초 병렬 평가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44000" y="347472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81160" y="3520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JOIN / VERDICT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281160" y="38862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Green/Yellow/Red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44000" y="448056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281160" y="4526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ESCALATE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281160" y="48920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HITL (Y/R 시)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144000" y="548640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81160" y="5532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DOC_GEN / SIGN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281160" y="58978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서류·전자서명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9144000" y="6492240"/>
            <a:ext cx="5029200" cy="868680"/>
          </a:xfrm>
          <a:prstGeom prst="roundRect">
            <a:avLst>
              <a:gd name="adj" fmla="val 10526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281160" y="6537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BSS_SUBMIT / LOG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281160" y="69037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제출·감사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10/17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 아키텍처 ③ — Tool/MCP · RAG · 멀티모달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시스템 · 지식 · 입출력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3716000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11430000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구성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3A8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MCP 8종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telco-bss · telco-kyc · police-lostid · tax-biz · e-sign · regulation-rag · fraud-history · corp-docs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RAG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규정·카탈로그·사기사례·FAQ · Hybrid(Dense+BM25) + Reranker + ReAct 인용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9E0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멀티모달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Gemini 2.5 Pro Vision (OCR·위변조) + ArcFace (로컬 얼굴) + Active Liveness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장애 폴백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BSS 장애 → Local Queue · KYC 장애 → Yellow 강제 · 경찰청 장애 → Yellow 승격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6400800"/>
            <a:ext cx="13716000" cy="1097280"/>
          </a:xfrm>
          <a:prstGeom prst="roundRect">
            <a:avLst>
              <a:gd name="adj" fmla="val 8333"/>
            </a:avLst>
          </a:prstGeom>
          <a:solidFill>
            <a:srgbClr val="F3F4F6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6492240"/>
            <a:ext cx="1335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표준으로 외부 시스템을 연결 → 확장성·벤더 중립성 확보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6903720"/>
            <a:ext cx="1335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데이터 소스·모델 추가 시 에이전트 코드 변경 없이 MCP 서버만 연결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11/17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신뢰성 · 보안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CIO 거버넌스 관심사 응답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3716000" cy="5486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0"/>
              </a:tblGrid>
              <a:tr h="7837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7837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SLA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병렬 에이전트 Hard 2.5s · End-to-End 30min · BSS 제출 5s+Queue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37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Circuit Breaker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MCP별 1분 실패율 &gt; 50% → OPEN → 30s 후 HALF-OPEN 테스트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37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HITL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Yellow = 점장 승인 · Red = 본사 리스크팀만 승인 가능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37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PII 보호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로컬 암호화 저장 + 클라우드 전송 전 마스킹 · 국내 리전 3복제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37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감사 로그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Append-only · SHA-256 해시 체인 · 7년 보관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37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규제 준수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개인정보보호법 · 정보통신망법 · 전자서명법 · KYC/AML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12/17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 로드맵 — 18개월 6단계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M4에 KPI 게이트 배치, CIO 재검토 시점</a:t>
            </a:r>
            <a:endParaRPr lang="en-US" sz="1300" dirty="0"/>
          </a:p>
        </p:txBody>
      </p:sp>
      <p:pic>
        <p:nvPicPr>
          <p:cNvPr id="5" name="Image 0" descr="C:\Users\hiond\workshop\mas-designer\output\dealer-docs-automator\step3\images\slide-13-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1371600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48056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4526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M0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5166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1~2m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737360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인프라 구축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737360" y="4983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MCP 4종 + Orch + 감사 DB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20640" y="448056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12080" y="4526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212080" y="5166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2~3m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0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IDV+ · RegGuard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00800" y="4983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VLM + RAG 파일럿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784080" y="448056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0" y="45262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875520" y="5166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064240" y="45720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Fraud Scorer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1064240" y="49834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ML + HITL 에스컬레이션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603504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6080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6720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1~2m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737360" y="6126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AutoDoc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737360" y="6537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 + 전자서명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120640" y="603504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12080" y="6080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212080" y="6720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3m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0" y="6126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8점 파일럿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400800" y="6537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KPI 게이트 · CIO 재검토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9784080" y="603504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875520" y="6080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M5+M6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9875520" y="6720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9m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064240" y="6126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확산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1064240" y="6537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200점 → 전사 1,000+점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13/17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기대 효과 — KPI 3종 + ROI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보수 시나리오 기준 (공격적 확산 시 12개월 회수)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48056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00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반려율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20%  →  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-75%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BSS 재처리 연 150~300억↓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0" y="1463040"/>
            <a:ext cx="448056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1600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사기율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21945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0.8%  →  0.1%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3017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-87%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303520" y="38404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손실·법적 리스크 연 50~120억↓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784080" y="1463040"/>
            <a:ext cx="4480560" cy="36576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66960" y="16002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처리시간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66960" y="21945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30min  →  12min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966960" y="30175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-60%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9966960" y="384048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+5~8%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486400"/>
            <a:ext cx="13716000" cy="1828800"/>
          </a:xfrm>
          <a:prstGeom prst="roundRect">
            <a:avLst>
              <a:gd name="adj" fmla="val 7500"/>
            </a:avLst>
          </a:prstGeom>
          <a:solidFill>
            <a:srgbClr val="1E3A8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77840"/>
            <a:ext cx="1335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ROI 회수 기간 15~22개월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40080" y="6217920"/>
            <a:ext cx="1335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비용 30~60억  ·  연간 절감+증대 200~450억  ·  ROI 3.5~7.5배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14/17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· 대응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리스크 5종 + 완화 방안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3716000" cy="5486400"/>
        </p:xfrm>
        <a:graphic>
          <a:graphicData uri="http://schemas.openxmlformats.org/drawingml/2006/table">
            <a:tbl>
              <a:tblPr/>
              <a:tblGrid>
                <a:gridCol w="4572000"/>
                <a:gridCol w="9144000"/>
              </a:tblGrid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리스크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완화 방안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규정 잦은 개정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RAG 자동 재인덱싱 24h + 영향 리포트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 드리프트 (FP 증가)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주간 FP 리뷰 + 월간 재학습 + 피드백 루프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조직 저항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8점 파일럿 선행 + 영업사원 NPS 목표 +30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외부 의존 (LLM API)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이중화 + 로컬 경량 모델 백업 + Circuit Breaker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PII 유출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마스킹 미들웨어 + 주 1회 무작위 감사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15/17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1371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의사결정 요청 · 다음 단계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1371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CIO 승인 획득 · 파일럿 착수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3716000" cy="27432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1335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요청 사항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M0 인프라 예산 승인 (약 15억 원 내외)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BSS API팀 · 데이터사이언스 Co-located 지원 (2+2명)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파일럿 대상 8 대리점 선정 승인 (번화가 5 + 외곽 3)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13716000" cy="27432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663440"/>
            <a:ext cx="1335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검토·승인 포인트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212080"/>
            <a:ext cx="13167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M4 파일럿 완료 시 KPI 게이트에서 CIO 재검토 (3개월 후)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월간 리스크 리포트 + 분기 외부 감사 보고서 CIO 직접 배포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확산 여부는 파일럿 KPI 달성 여부로 정보 기반 결정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7863840"/>
            <a:ext cx="1371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dealer-docs-automator | 16/17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7772400"/>
            <a:ext cx="14630400" cy="27432"/>
          </a:xfrm>
          <a:prstGeom prst="rect">
            <a:avLst/>
          </a:prstGeom>
          <a:solidFill>
            <a:srgbClr val="1E3A8A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371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1371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1371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3F4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문서: output/dealer-docs-automator/step2/mas-architecture.md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3F4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산출물: output/dealer-docs-automator/plan/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dealer-docs-automator — RTA for Telecom Dealers</dc:title>
  <dc:subject>PptxGenJS Presentation</dc:subject>
  <dc:creator>mas-designer</dc:creator>
  <cp:lastModifiedBy>mas-designer</cp:lastModifiedBy>
  <cp:revision>1</cp:revision>
  <dcterms:created xsi:type="dcterms:W3CDTF">2026-04-21T05:04:50Z</dcterms:created>
  <dcterms:modified xsi:type="dcterms:W3CDTF">2026-04-21T05:04:50Z</dcterms:modified>
</cp:coreProperties>
</file>